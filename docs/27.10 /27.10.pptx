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lvl="1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  <a:lvl3pPr lvl="2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3pPr>
            <a:lvl4pPr lvl="3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4pPr>
            <a:lvl5pPr lvl="4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Second Outline Level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Third Outline Level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lnSpc>
                <a:spcPct val="100000"/>
              </a:lnSpc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Fourth Outline Level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Fifth Outline Level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Sixth Outline Level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Seventh Outline Level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pic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pic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1059" hidden="1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060" hidden="1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061" hidden="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059"/>
          <p:cNvSpPr/>
          <p:nvPr/>
        </p:nvSpPr>
        <p:spPr>
          <a:xfrm>
            <a:off x="2396160" y="2291400"/>
            <a:ext cx="5451840" cy="4164480"/>
          </a:xfrm>
          <a:custGeom>
            <a:avLst/>
            <a:gdLst>
              <a:gd name="textAreaLeft" fmla="*/ 0 w 5451840"/>
              <a:gd name="textAreaRight" fmla="*/ 5452560 w 5451840"/>
              <a:gd name="textAreaTop" fmla="*/ 0 h 4164480"/>
              <a:gd name="textAreaBottom" fmla="*/ 4165200 h 416448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22112" y="3116"/>
                </a:moveTo>
                <a:lnTo>
                  <a:pt x="22112" y="3116"/>
                </a:lnTo>
                <a:cubicBezTo>
                  <a:pt x="22112" y="3116"/>
                  <a:pt x="27356" y="0"/>
                  <a:pt x="30300" y="4263"/>
                </a:cubicBezTo>
                <a:lnTo>
                  <a:pt x="30300" y="4263"/>
                </a:lnTo>
                <a:cubicBezTo>
                  <a:pt x="33277" y="8577"/>
                  <a:pt x="36666" y="13779"/>
                  <a:pt x="39369" y="17410"/>
                </a:cubicBezTo>
                <a:lnTo>
                  <a:pt x="39369" y="17410"/>
                </a:lnTo>
                <a:cubicBezTo>
                  <a:pt x="41761" y="20624"/>
                  <a:pt x="43200" y="22708"/>
                  <a:pt x="40979" y="26940"/>
                </a:cubicBezTo>
                <a:lnTo>
                  <a:pt x="40979" y="26940"/>
                </a:lnTo>
                <a:cubicBezTo>
                  <a:pt x="39655" y="29461"/>
                  <a:pt x="35076" y="35072"/>
                  <a:pt x="32639" y="38623"/>
                </a:cubicBezTo>
                <a:lnTo>
                  <a:pt x="32639" y="38623"/>
                </a:lnTo>
                <a:cubicBezTo>
                  <a:pt x="30200" y="42175"/>
                  <a:pt x="26202" y="43200"/>
                  <a:pt x="23268" y="42185"/>
                </a:cubicBezTo>
                <a:lnTo>
                  <a:pt x="23268" y="42185"/>
                </a:lnTo>
                <a:cubicBezTo>
                  <a:pt x="20331" y="41168"/>
                  <a:pt x="11584" y="38623"/>
                  <a:pt x="6213" y="36974"/>
                </a:cubicBezTo>
                <a:lnTo>
                  <a:pt x="6213" y="36974"/>
                </a:lnTo>
                <a:cubicBezTo>
                  <a:pt x="1431" y="35502"/>
                  <a:pt x="0" y="32900"/>
                  <a:pt x="214" y="31157"/>
                </a:cubicBezTo>
                <a:lnTo>
                  <a:pt x="214" y="31157"/>
                </a:lnTo>
                <a:cubicBezTo>
                  <a:pt x="760" y="26703"/>
                  <a:pt x="1113" y="19920"/>
                  <a:pt x="1214" y="16042"/>
                </a:cubicBezTo>
                <a:lnTo>
                  <a:pt x="1214" y="16042"/>
                </a:lnTo>
                <a:cubicBezTo>
                  <a:pt x="1303" y="12626"/>
                  <a:pt x="4203" y="11313"/>
                  <a:pt x="6907" y="9989"/>
                </a:cubicBezTo>
                <a:lnTo>
                  <a:pt x="6907" y="9989"/>
                </a:lnTo>
                <a:cubicBezTo>
                  <a:pt x="9245" y="8843"/>
                  <a:pt x="19774" y="4261"/>
                  <a:pt x="22112" y="3116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060"/>
          <p:cNvSpPr/>
          <p:nvPr/>
        </p:nvSpPr>
        <p:spPr>
          <a:xfrm>
            <a:off x="1309680" y="1839960"/>
            <a:ext cx="4011120" cy="1313640"/>
          </a:xfrm>
          <a:custGeom>
            <a:avLst/>
            <a:gdLst>
              <a:gd name="textAreaLeft" fmla="*/ 0 w 4011120"/>
              <a:gd name="textAreaRight" fmla="*/ 4011840 w 4011120"/>
              <a:gd name="textAreaTop" fmla="*/ 0 h 1313640"/>
              <a:gd name="textAreaBottom" fmla="*/ 1314360 h 131364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40162" y="13104"/>
                </a:moveTo>
                <a:lnTo>
                  <a:pt x="40162" y="13104"/>
                </a:lnTo>
                <a:cubicBezTo>
                  <a:pt x="36799" y="16736"/>
                  <a:pt x="26204" y="28154"/>
                  <a:pt x="22676" y="31251"/>
                </a:cubicBezTo>
                <a:lnTo>
                  <a:pt x="22676" y="31251"/>
                </a:lnTo>
                <a:cubicBezTo>
                  <a:pt x="18513" y="34899"/>
                  <a:pt x="15093" y="37527"/>
                  <a:pt x="13136" y="38511"/>
                </a:cubicBezTo>
                <a:lnTo>
                  <a:pt x="13136" y="38511"/>
                </a:lnTo>
                <a:cubicBezTo>
                  <a:pt x="10861" y="39650"/>
                  <a:pt x="0" y="43200"/>
                  <a:pt x="422" y="38511"/>
                </a:cubicBezTo>
                <a:lnTo>
                  <a:pt x="422" y="38511"/>
                </a:lnTo>
                <a:cubicBezTo>
                  <a:pt x="750" y="34836"/>
                  <a:pt x="12785" y="17028"/>
                  <a:pt x="15584" y="14358"/>
                </a:cubicBezTo>
                <a:lnTo>
                  <a:pt x="15584" y="14358"/>
                </a:lnTo>
                <a:cubicBezTo>
                  <a:pt x="18382" y="11693"/>
                  <a:pt x="34508" y="0"/>
                  <a:pt x="36286" y="2133"/>
                </a:cubicBezTo>
                <a:lnTo>
                  <a:pt x="36286" y="2133"/>
                </a:lnTo>
                <a:cubicBezTo>
                  <a:pt x="38064" y="4272"/>
                  <a:pt x="43200" y="9825"/>
                  <a:pt x="40162" y="1310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061"/>
          <p:cNvSpPr/>
          <p:nvPr/>
        </p:nvSpPr>
        <p:spPr>
          <a:xfrm>
            <a:off x="6567120" y="4629240"/>
            <a:ext cx="5394960" cy="2230920"/>
          </a:xfrm>
          <a:custGeom>
            <a:avLst/>
            <a:gdLst>
              <a:gd name="textAreaLeft" fmla="*/ 0 w 5394960"/>
              <a:gd name="textAreaRight" fmla="*/ 5395680 w 5394960"/>
              <a:gd name="textAreaTop" fmla="*/ 0 h 2230920"/>
              <a:gd name="textAreaBottom" fmla="*/ 2231640 h 2230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43200" y="43200"/>
                </a:moveTo>
                <a:lnTo>
                  <a:pt x="43200" y="43200"/>
                </a:lnTo>
                <a:cubicBezTo>
                  <a:pt x="42680" y="32337"/>
                  <a:pt x="42264" y="24810"/>
                  <a:pt x="41982" y="22533"/>
                </a:cubicBezTo>
                <a:lnTo>
                  <a:pt x="41982" y="22533"/>
                </a:lnTo>
                <a:cubicBezTo>
                  <a:pt x="41353" y="17445"/>
                  <a:pt x="31020" y="10782"/>
                  <a:pt x="25434" y="7567"/>
                </a:cubicBezTo>
                <a:lnTo>
                  <a:pt x="25434" y="7567"/>
                </a:lnTo>
                <a:cubicBezTo>
                  <a:pt x="20461" y="4707"/>
                  <a:pt x="15752" y="0"/>
                  <a:pt x="10688" y="12771"/>
                </a:cubicBezTo>
                <a:lnTo>
                  <a:pt x="10688" y="12771"/>
                </a:lnTo>
                <a:cubicBezTo>
                  <a:pt x="5409" y="26085"/>
                  <a:pt x="2329" y="33891"/>
                  <a:pt x="451" y="39632"/>
                </a:cubicBezTo>
                <a:lnTo>
                  <a:pt x="451" y="39632"/>
                </a:lnTo>
                <a:cubicBezTo>
                  <a:pt x="180" y="40459"/>
                  <a:pt x="44" y="41820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62"/>
          <p:cNvSpPr/>
          <p:nvPr/>
        </p:nvSpPr>
        <p:spPr>
          <a:xfrm>
            <a:off x="389160" y="6100920"/>
            <a:ext cx="4967640" cy="759240"/>
          </a:xfrm>
          <a:custGeom>
            <a:avLst/>
            <a:gdLst>
              <a:gd name="textAreaLeft" fmla="*/ 0 w 4967640"/>
              <a:gd name="textAreaRight" fmla="*/ 4968360 w 4967640"/>
              <a:gd name="textAreaTop" fmla="*/ 0 h 759240"/>
              <a:gd name="textAreaBottom" fmla="*/ 759960 h 75924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43200" y="43200"/>
                </a:moveTo>
                <a:lnTo>
                  <a:pt x="43200" y="43200"/>
                </a:lnTo>
                <a:cubicBezTo>
                  <a:pt x="37750" y="34083"/>
                  <a:pt x="28707" y="20178"/>
                  <a:pt x="28707" y="20178"/>
                </a:cubicBezTo>
                <a:lnTo>
                  <a:pt x="28707" y="20178"/>
                </a:lnTo>
                <a:cubicBezTo>
                  <a:pt x="23196" y="11772"/>
                  <a:pt x="17935" y="0"/>
                  <a:pt x="14588" y="1341"/>
                </a:cubicBezTo>
                <a:lnTo>
                  <a:pt x="14588" y="1341"/>
                </a:lnTo>
                <a:cubicBezTo>
                  <a:pt x="11240" y="2673"/>
                  <a:pt x="6350" y="22671"/>
                  <a:pt x="1602" y="37718"/>
                </a:cubicBezTo>
                <a:lnTo>
                  <a:pt x="1602" y="37718"/>
                </a:lnTo>
                <a:cubicBezTo>
                  <a:pt x="1072" y="39393"/>
                  <a:pt x="536" y="41175"/>
                  <a:pt x="0" y="43200"/>
                </a:cubicBezTo>
                <a:lnTo>
                  <a:pt x="4320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63"/>
          <p:cNvSpPr/>
          <p:nvPr/>
        </p:nvSpPr>
        <p:spPr>
          <a:xfrm>
            <a:off x="0" y="3254760"/>
            <a:ext cx="2099160" cy="3342960"/>
          </a:xfrm>
          <a:custGeom>
            <a:avLst/>
            <a:gdLst>
              <a:gd name="textAreaLeft" fmla="*/ 0 w 2099160"/>
              <a:gd name="textAreaRight" fmla="*/ 2099880 w 2099160"/>
              <a:gd name="textAreaTop" fmla="*/ 0 h 3342960"/>
              <a:gd name="textAreaBottom" fmla="*/ 3343680 h 33429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43200"/>
                </a:moveTo>
                <a:lnTo>
                  <a:pt x="0" y="43200"/>
                </a:lnTo>
                <a:cubicBezTo>
                  <a:pt x="10450" y="39319"/>
                  <a:pt x="26476" y="34991"/>
                  <a:pt x="31760" y="32779"/>
                </a:cubicBezTo>
                <a:lnTo>
                  <a:pt x="31760" y="32779"/>
                </a:lnTo>
                <a:cubicBezTo>
                  <a:pt x="38554" y="29929"/>
                  <a:pt x="35982" y="23868"/>
                  <a:pt x="39587" y="11934"/>
                </a:cubicBezTo>
                <a:lnTo>
                  <a:pt x="39587" y="11934"/>
                </a:lnTo>
                <a:cubicBezTo>
                  <a:pt x="43199" y="0"/>
                  <a:pt x="33409" y="2565"/>
                  <a:pt x="25082" y="2041"/>
                </a:cubicBezTo>
                <a:lnTo>
                  <a:pt x="25082" y="2041"/>
                </a:lnTo>
                <a:cubicBezTo>
                  <a:pt x="14497" y="1374"/>
                  <a:pt x="7053" y="4621"/>
                  <a:pt x="0" y="7243"/>
                </a:cubicBezTo>
                <a:lnTo>
                  <a:pt x="0" y="432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4595760" y="1809000"/>
            <a:ext cx="6720120" cy="71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4000" b="1" u="none" strike="noStrike" cap="all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000" b="1" u="none" strike="noStrike" cap="all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000" b="1" u="none" strike="noStrike" cap="all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  <a:def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1pPr>
            <a:lvl2pPr lvl="1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2pPr>
            <a:lvl3pPr lvl="2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  <a:def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3pPr>
            <a:lvl4pPr lvl="3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4pPr>
            <a:lvl5pPr lvl="4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Образец текста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743040" lvl="1" indent="-28584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Второй уровень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143000" lvl="2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Третий уровень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600200" lvl="3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–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Четвертый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057400" lvl="4" indent="-22860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Char char="»"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Пятый уровень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6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7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8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Образец заголовка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dt" idx="3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ftr" idx="3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sldNum" idx="3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r" defTabSz="914400">
              <a:buNone/>
              <a:tabLst>
                <a:tab pos="0" algn="l"/>
              </a:tabLst>
            </a:pP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buNone/>
            </a:pP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C295174D-ED76-4D09-8E47-9BF8896694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59"/>
          <p:cNvSpPr/>
          <p:nvPr/>
        </p:nvSpPr>
        <p:spPr>
          <a:xfrm>
            <a:off x="4976640" y="0"/>
            <a:ext cx="3057480" cy="893160"/>
          </a:xfrm>
          <a:custGeom>
            <a:avLst/>
            <a:gdLst>
              <a:gd name="textAreaLeft" fmla="*/ 0 w 3057480"/>
              <a:gd name="textAreaRight" fmla="*/ 3058200 w 3057480"/>
              <a:gd name="textAreaTop" fmla="*/ 0 h 893160"/>
              <a:gd name="textAreaBottom" fmla="*/ 893880 h 8931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0" y="0"/>
                </a:moveTo>
                <a:lnTo>
                  <a:pt x="0" y="0"/>
                </a:lnTo>
                <a:cubicBezTo>
                  <a:pt x="1690" y="6213"/>
                  <a:pt x="3698" y="13338"/>
                  <a:pt x="6091" y="21902"/>
                </a:cubicBezTo>
                <a:lnTo>
                  <a:pt x="6091" y="21902"/>
                </a:lnTo>
                <a:cubicBezTo>
                  <a:pt x="12043" y="43199"/>
                  <a:pt x="17573" y="35347"/>
                  <a:pt x="23417" y="30579"/>
                </a:cubicBezTo>
                <a:lnTo>
                  <a:pt x="23417" y="30579"/>
                </a:lnTo>
                <a:cubicBezTo>
                  <a:pt x="29984" y="25223"/>
                  <a:pt x="42123" y="14119"/>
                  <a:pt x="42860" y="5640"/>
                </a:cubicBezTo>
                <a:lnTo>
                  <a:pt x="42860" y="5640"/>
                </a:lnTo>
                <a:cubicBezTo>
                  <a:pt x="42960" y="4507"/>
                  <a:pt x="43072" y="2479"/>
                  <a:pt x="4320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1060"/>
          <p:cNvSpPr/>
          <p:nvPr/>
        </p:nvSpPr>
        <p:spPr>
          <a:xfrm>
            <a:off x="-24840" y="0"/>
            <a:ext cx="1398960" cy="1796760"/>
          </a:xfrm>
          <a:custGeom>
            <a:avLst/>
            <a:gdLst>
              <a:gd name="textAreaLeft" fmla="*/ 0 w 1398960"/>
              <a:gd name="textAreaRight" fmla="*/ 1399680 w 1398960"/>
              <a:gd name="textAreaTop" fmla="*/ 0 h 1796760"/>
              <a:gd name="textAreaBottom" fmla="*/ 1797480 h 179676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1743" y="2484"/>
                </a:moveTo>
                <a:lnTo>
                  <a:pt x="31743" y="2484"/>
                </a:lnTo>
                <a:cubicBezTo>
                  <a:pt x="30428" y="1799"/>
                  <a:pt x="28450" y="1080"/>
                  <a:pt x="26054" y="0"/>
                </a:cubicBezTo>
                <a:lnTo>
                  <a:pt x="0" y="0"/>
                </a:lnTo>
                <a:lnTo>
                  <a:pt x="0" y="34200"/>
                </a:lnTo>
                <a:lnTo>
                  <a:pt x="0" y="34200"/>
                </a:lnTo>
                <a:cubicBezTo>
                  <a:pt x="7029" y="37461"/>
                  <a:pt x="14504" y="41491"/>
                  <a:pt x="25070" y="40664"/>
                </a:cubicBezTo>
                <a:lnTo>
                  <a:pt x="25070" y="40664"/>
                </a:lnTo>
                <a:cubicBezTo>
                  <a:pt x="33399" y="40015"/>
                  <a:pt x="43200" y="43200"/>
                  <a:pt x="39593" y="28375"/>
                </a:cubicBezTo>
                <a:lnTo>
                  <a:pt x="39593" y="28375"/>
                </a:lnTo>
                <a:cubicBezTo>
                  <a:pt x="35986" y="13550"/>
                  <a:pt x="38530" y="6023"/>
                  <a:pt x="31743" y="2484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61"/>
          <p:cNvSpPr/>
          <p:nvPr/>
        </p:nvSpPr>
        <p:spPr>
          <a:xfrm>
            <a:off x="1637280" y="0"/>
            <a:ext cx="3839040" cy="2608920"/>
          </a:xfrm>
          <a:custGeom>
            <a:avLst/>
            <a:gdLst>
              <a:gd name="textAreaLeft" fmla="*/ 0 w 3839040"/>
              <a:gd name="textAreaRight" fmla="*/ 3839760 w 3839040"/>
              <a:gd name="textAreaTop" fmla="*/ 0 h 2608920"/>
              <a:gd name="textAreaBottom" fmla="*/ 2609640 h 2608920"/>
            </a:gdLst>
            <a:ahLst/>
            <a:cxnLst/>
            <a:rect l="textAreaLeft" t="textAreaTop" r="textAreaRight" b="textAreaBottom"/>
            <a:pathLst>
              <a:path stroke="0" w="43200" h="43200">
                <a:moveTo>
                  <a:pt x="32864" y="0"/>
                </a:moveTo>
                <a:lnTo>
                  <a:pt x="10583" y="0"/>
                </a:lnTo>
                <a:lnTo>
                  <a:pt x="10583" y="0"/>
                </a:lnTo>
                <a:cubicBezTo>
                  <a:pt x="9017" y="532"/>
                  <a:pt x="7515" y="1058"/>
                  <a:pt x="6214" y="1509"/>
                </a:cubicBezTo>
                <a:lnTo>
                  <a:pt x="6214" y="1509"/>
                </a:lnTo>
                <a:cubicBezTo>
                  <a:pt x="1428" y="3166"/>
                  <a:pt x="0" y="6109"/>
                  <a:pt x="212" y="8072"/>
                </a:cubicBezTo>
                <a:lnTo>
                  <a:pt x="212" y="8072"/>
                </a:lnTo>
                <a:cubicBezTo>
                  <a:pt x="758" y="13092"/>
                  <a:pt x="1111" y="20742"/>
                  <a:pt x="1212" y="25114"/>
                </a:cubicBezTo>
                <a:lnTo>
                  <a:pt x="1212" y="25114"/>
                </a:lnTo>
                <a:cubicBezTo>
                  <a:pt x="1301" y="28962"/>
                  <a:pt x="4204" y="30446"/>
                  <a:pt x="6906" y="31937"/>
                </a:cubicBezTo>
                <a:lnTo>
                  <a:pt x="6906" y="31937"/>
                </a:lnTo>
                <a:cubicBezTo>
                  <a:pt x="9246" y="33229"/>
                  <a:pt x="19775" y="38395"/>
                  <a:pt x="22112" y="39685"/>
                </a:cubicBezTo>
                <a:lnTo>
                  <a:pt x="22112" y="39685"/>
                </a:lnTo>
                <a:cubicBezTo>
                  <a:pt x="22112" y="39685"/>
                  <a:pt x="27355" y="43200"/>
                  <a:pt x="30298" y="38395"/>
                </a:cubicBezTo>
                <a:lnTo>
                  <a:pt x="30298" y="38395"/>
                </a:lnTo>
                <a:cubicBezTo>
                  <a:pt x="33277" y="33533"/>
                  <a:pt x="36665" y="27667"/>
                  <a:pt x="39367" y="23576"/>
                </a:cubicBezTo>
                <a:lnTo>
                  <a:pt x="39367" y="23576"/>
                </a:lnTo>
                <a:cubicBezTo>
                  <a:pt x="41761" y="19953"/>
                  <a:pt x="43200" y="17587"/>
                  <a:pt x="40977" y="12816"/>
                </a:cubicBezTo>
                <a:lnTo>
                  <a:pt x="40977" y="12816"/>
                </a:lnTo>
                <a:cubicBezTo>
                  <a:pt x="39697" y="10062"/>
                  <a:pt x="35347" y="3936"/>
                  <a:pt x="3286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9524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buNone/>
              <a:tabLst>
                <a:tab pos="0" algn="l"/>
              </a:tabLst>
              <a:def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080" cy="452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buClr>
                <a:srgbClr val="404040"/>
              </a:buClr>
              <a:buFont typeface="Liberation Sans"/>
              <a:buChar char="•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lvl="1" algn="l" defTabSz="914400"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  <a:lvl3pPr lvl="2" algn="l" defTabSz="914400"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3pPr>
            <a:lvl4pPr lvl="3" algn="l" defTabSz="914400">
              <a:buClr>
                <a:srgbClr val="000000"/>
              </a:buClr>
              <a:buSzPct val="75000"/>
              <a:buFont typeface="Symbol" charset="2"/>
              <a:buChar char="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4pPr>
            <a:lvl5pPr lvl="4" algn="l" defTabSz="914400"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7pPr>
          </a:lstStyle>
          <a:p>
            <a:pPr indent="-324000" algn="l" defTabSz="914400">
              <a:buClr>
                <a:srgbClr val="404040"/>
              </a:buClr>
              <a:buFont typeface="Liberation Sans"/>
              <a:buChar char="•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864000" lvl="1" indent="-324000" algn="l" defTabSz="9144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Second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296000" lvl="2" indent="-288000" algn="l" defTabSz="9144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Third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1728000" lvl="3" indent="-216000" algn="l" defTabSz="9144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Fourth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160000" lvl="4" indent="-216000" algn="l" defTabSz="9144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Fifth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Sixth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Seventh Outline Level</a:t>
            </a: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ftr" idx="3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0FCA3BAB-E294-44AF-B412-00F0866920F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dt" idx="3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Качество сайта dks-st.ru</a:t>
            </a:r>
            <a:endParaRPr lang="ru-RU" sz="3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200" cy="1653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Команда 2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Стратегия тестирования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 fontScale="85000" lnSpcReduction="9999"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Объект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dks-st.ru, каталог металлопроката на Tilda (Владивосток). Цель сайта: получить заявку или звонок.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Подход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риск-ориентированный. Сначала проверяем то, что влияет на заявки.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 тестируем: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бэкенд Tilda и CRM, пентесты и DDoS (сайт чужой и боевой).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Критерии выхода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все кейсы P1 выполнены, нет открытых Blocker/Critical, составлен отчёт.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Главные риски: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Форма заявки не отправляется (P1).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Неверная фильтрация каталога (P1).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Ломается вёрстка на мобильных (P2).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2" name="null"/>
          <p:cNvGraphicFramePr/>
          <p:nvPr/>
        </p:nvGraphicFramePr>
        <p:xfrm>
          <a:off x="5438880" y="1587600"/>
          <a:ext cx="5672520" cy="4113360"/>
        </p:xfrm>
        <a:graphic>
          <a:graphicData uri="http://schemas.openxmlformats.org/drawingml/2006/table">
            <a:tbl>
              <a:tblPr/>
              <a:tblGrid>
                <a:gridCol w="1521360"/>
                <a:gridCol w="2768040"/>
                <a:gridCol w="1383480"/>
              </a:tblGrid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Вид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Что проверяем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Инструмент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71604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Функциональное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Формы заявок, каталог, фильтры, навигация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Вручную + Playwright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71604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UI и адаптивность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Вёрстка на desktop, планшете, мобильном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DevTools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Кроссбраузерное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Chrome, Firefox, WebKit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Playwright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71604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Производительность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Скорость загрузки, Core Web Vitals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Lighthouse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716040"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Нагрузочное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Устойчивость при росте числа пользователей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k6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3" name=""/>
          <p:cNvSpPr/>
          <p:nvPr/>
        </p:nvSpPr>
        <p:spPr>
          <a:xfrm>
            <a:off x="5438880" y="1175760"/>
            <a:ext cx="2268000" cy="304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Виды тестирования: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План тестирования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766760" y="272880"/>
            <a:ext cx="6814800" cy="63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Окружение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: production, Windows/macOS, Chrome/Firefox/Edge/Safari, эмуляция мобильных (390×844), Playwright + k6.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/>
          </p:nvPr>
        </p:nvSpPr>
        <p:spPr>
          <a:xfrm>
            <a:off x="609480" y="2568600"/>
            <a:ext cx="4010400" cy="1866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t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Риски и митигация: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Тестовые заявки могут дойти реальным менеджерам. Помечаем данные «ТЕСТ» и не спамим формы.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k6 может повлиять на чужой сайт. Берём   минимальный профиль (несколько пользователей, только GET)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null"/>
          <p:cNvGraphicFramePr/>
          <p:nvPr/>
        </p:nvGraphicFramePr>
        <p:xfrm>
          <a:off x="4933800" y="1434960"/>
          <a:ext cx="5758920" cy="3732120"/>
        </p:xfrm>
        <a:graphic>
          <a:graphicData uri="http://schemas.openxmlformats.org/drawingml/2006/table">
            <a:tbl>
              <a:tblPr/>
              <a:tblGrid>
                <a:gridCol w="4553640"/>
                <a:gridCol w="1205640"/>
              </a:tblGrid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Модуль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Приоритет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Формы заявок (звонок, быстрый заказ, КП)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P1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Каталог и фильтры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P1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Навигация, контакты, услуги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P2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Адаптивность и кроссбраузерность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P2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Производительность и нагрузка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P2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  <a:tr h="533160"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Инфо-разделы, cookie, SEO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  <a:tc>
                  <a:txBody>
                    <a:bodyPr lIns="37800" tIns="37800" rIns="37800" bIns="378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endParaRPr lang="ru-RU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ru-RU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 P3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7800" marR="37800" marT="37800" marB="37800">
                    <a:lnL w="12240">
                      <a:solidFill>
                        <a:srgbClr val="000000"/>
                      </a:solidFill>
                      <a:prstDash val="dashDot"/>
                    </a:lnL>
                    <a:lnR w="12240">
                      <a:solidFill>
                        <a:srgbClr val="000000"/>
                      </a:solidFill>
                      <a:prstDash val="dashDot"/>
                    </a:lnR>
                    <a:lnT w="12240">
                      <a:solidFill>
                        <a:srgbClr val="000000"/>
                      </a:solidFill>
                      <a:prstDash val="dashDot"/>
                    </a:lnT>
                    <a:lnB w="12240">
                      <a:solidFill>
                        <a:srgbClr val="000000"/>
                      </a:solidFill>
                      <a:prstDash val="dashDot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8" name=""/>
          <p:cNvSpPr/>
          <p:nvPr/>
        </p:nvSpPr>
        <p:spPr>
          <a:xfrm>
            <a:off x="4933800" y="1130040"/>
            <a:ext cx="991440" cy="3049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Объём: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Выбор модуля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Обоснование выбора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306480" y="714240"/>
            <a:ext cx="5565960" cy="393408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Почему исключены из детального покрытия другие модули:</a:t>
            </a:r>
            <a:br>
              <a:rPr sz="1400"/>
            </a:b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Услуги (C): Модуль носит информационный характер (описание резки, сверления и т.д.). Риск потери лида здесь минимален, так как ознакомление с услугами вторично по отношению к покупке самого металла. Достаточно базовой проверки отображения (P2).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Оплата и доставка (D): Страница является чисто текстовой/информационной. На сайте dks-st.ru (платформа Tilda) отсутствует встроенный интернет-эквайринг и корзина сквозного оформления заказа. Все расчеты и условия обсуждаются с менеджером после отправки заявки, поэтому данный модуль не содержит критичного функционала.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Навигация/контакты (E): Имеет приоритет P2. Проверяется в рамках общего UI-тестирования и кроссбраузерности, но не требует составления избыточных атомарных чек-листов уровня P1.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540000" y="489240"/>
            <a:ext cx="4860000" cy="455076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t">
            <a:spAutoFit/>
          </a:bodyPr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Почему выбраны эти модули: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● Формы заявок (A): Критический узел конверсии. Любой дефект здесь (неактивная кнопка, падение скрипта отправки, блокировка валидации) напрямую приводит к потере лида и финансовым убыткам.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● Каталог и фильтры (B): Основной инструмент поиска товара на сайте металлопроката. Если пользователь не сможет найти нужную позицию или фильтр скроет доступный ассортимент, он уйдет к конкурентам, так и не дойдя до формы заказа.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000"/>
            </a:b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Чек-листы для модуля формы заявок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263200" y="1434960"/>
            <a:ext cx="6148800" cy="170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FORM-01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Отправка формы «Заказать звонок» с валидным номером телефона и пометкой имени «ТЕСТ».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Форма успешно отправляется, отображается Текст-успеха Tilda.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Форма заявки не отправляется, лид потерян.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5263200" y="3780720"/>
            <a:ext cx="6377400" cy="170640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FORM-02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Отправка формы «Быстрый заказ» с заполненными полями текста («ТЕСТ продукция») и прикрепленным файлом (test.pdf).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Файл загружается, форма уходит без ошибок интерфейса.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Сбой отправки вложений, менеджер получает пустой заказ.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 fontScale="85000" lnSpcReduction="9999"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200"/>
            </a:br>
            <a:br>
              <a:rPr sz="2200"/>
            </a:br>
            <a:r>
              <a:rPr lang="ru-RU" sz="2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Чек-листы для модуля формы заявок</a:t>
            </a:r>
            <a:endParaRPr lang="ru-RU" sz="22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263200" y="1434960"/>
            <a:ext cx="6149880" cy="40381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FORM-03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Отправка формы «Получить коммерческое предложение» на главном экране.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Заявка уходит, появляется сообщение об успешной отправке.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Потеря «горячих» лидов с первого экрана.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FORM-04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Попытка отправки формы «Заказать звонок» с пустым полем телефона.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Кнопка блокируется или Tilda подсвечивает поле ошибкой валидации, отправка не происходит.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Связанный риск: В CRM уходят пустые или нечитаемые заявки.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000"/>
            </a:b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Чек-листы для модуля формы заявок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5263200" y="1434960"/>
            <a:ext cx="6149880" cy="403812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FORM-03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Отправка формы «Получить коммерческое предложение» на главном экране.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Заявка уходит, появляется сообщение об успешной отправке.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Потеря «горячих» лидов с первого экрана.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FORM-04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Попытка отправки формы «Заказать звонок» с пустым полем телефона.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Кнопка блокируется или Tilda подсвечивает поле ошибкой валидации, отправка не происходит.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Связанный риск: В CRM уходят пустые или нечитаемые заявки.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tIns="45720" rIns="91440" bIns="45720" anchor="ctr">
            <a:norm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br>
              <a:rPr sz="2000"/>
            </a:br>
            <a:r>
              <a:rPr lang="ru-RU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Чек-листы для модуля формы заявок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5263200" y="1434960"/>
            <a:ext cx="6150960" cy="43736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FORM-05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Клик по чекбоксу согласия с политикой конфиденциальности во всех формах.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UI / Функциональная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Чекбокс переключается; при снятом флажке [Предположение: если Tilda блокирует отправку] кнопка отправки неактивна.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Нарушение ФЗ-152, юридические риски.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FORM-06</a:t>
            </a:r>
            <a:br>
              <a:rPr sz="1100"/>
            </a:b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Формы заявок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Отображение и кликабельность кнопок вызова поп-ап форм («Заказать звонок», «Быстрый заказ») на разрешении 390x844.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Адаптивность / UI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Поп-ап открывается корректно, элементы управления (поля, кнопка закрытия «Х») не выходят за границы экрана.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Ломается вёрстка на мобильных, форму невозможно вызвать или закрыть.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Чек-листы для модуля каталог и фильтры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CAT-01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ru-RU" sz="3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Каталог и фильтры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Переход в категорию «Арматура» через главное или боковое меню каталога.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Открывается страница/список, содержащий только сортамент арматуры (А3, А500, AI и др.).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Неверная фильтрация каталога, пользователь видит не тот товар.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CAT-02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Каталог и фильтры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Переход в категорию «Трубы стальные» и выбор подкатегории (например, «Труба профильная»).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Отображается отфильтрованный список профильных труб.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Связанный риск: Сбой вложенной фильтрации, пустая выдача.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Чек-листы для модуля каталог и фильтры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CAT-03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Каталог и фильтры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Клик по кнопке «Скачать прайс-лист» в шапке сайта.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P1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Функциональная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Стартует скачивание файла (.pdf/.xlsx) или открывается актуальный прайс-лист в новой вкладке.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Пользователь не может получить актуальные цены опта.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CAT-04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Каталог и фильтры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Корректность сетки товаров каталога при кроссбраузерном просморте (Chrome, Safari, Edge).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P2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Кроссбраузер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Карточки товаров стоят ровно, текст наименований не накладывается друг на друга, кнопки не съезжают.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Нарушение визуального восприятия, снижение конверсии.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Чек-листы для модуля каталог и фильтры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● CAT-05</a:t>
            </a:r>
            <a:br>
              <a:rPr sz="1100"/>
            </a:b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Модуль: Каталог и фильтры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Проверка (атомарная): Отображение каталога товаров на мобильном разрешении 390x844.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Приоритет: P2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Тип: Адаптивность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Ожидаемый результат: Список товаров перестраивается в 1 или 2 колонки, отсутствует горизонтальная прокрутка страницы.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○ Связанный риск: Ломается вёрстка на мобильных.</a:t>
            </a:r>
            <a:endParaRPr lang="ru-RU" sz="11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buNone/>
              <a:tabLst>
                <a:tab pos="0" algn="l"/>
              </a:tabLst>
            </a:pP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Тест - кейсы</a:t>
            </a:r>
            <a:endParaRPr lang="ru-RU" sz="2000" b="1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Оформлены в формате таблицы, показаны частично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879120" y="501480"/>
            <a:ext cx="10335600" cy="445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Автоматизация тестирования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59" name=""/>
          <p:cNvPicPr/>
          <p:nvPr/>
        </p:nvPicPr>
        <p:blipFill>
          <a:blip r:embed="rId1"/>
          <a:stretch/>
        </p:blipFill>
        <p:spPr>
          <a:xfrm>
            <a:off x="360000" y="1980000"/>
            <a:ext cx="5219640" cy="29628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60" name=""/>
          <p:cNvPicPr/>
          <p:nvPr/>
        </p:nvPicPr>
        <p:blipFill>
          <a:blip r:embed="rId2"/>
          <a:stretch/>
        </p:blipFill>
        <p:spPr>
          <a:xfrm>
            <a:off x="5888160" y="1620000"/>
            <a:ext cx="5991480" cy="391932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Нагрузочное тестирование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Описание работы программы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1. Настройка тестирования. Указывается адрес сайта https://dks-st.ru, задаются HTTP-заголовки и метрики для сбора результатов.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2. Создание нагрузки. Нагрузка постепенно увеличивается: сначала до 5, затем до 10 и 20 виртуальных пользователей, после чего снижается до нуля.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3. Проверка главной страницы. Программа проверяет HTTP-статус 200 и наличие слова «металлопрокат» в содержимом страницы.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4. Проверка случайных страниц. Из списка страниц каталога, услуг и других разделов случайным образом выбирается страница, проверяется её доступность и время ответа.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5. Имитация поведения пользователей. Между запросами добавляются случайные паузы от 1 до 3 секунд.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6. Сбор метрик. Фиксируются время загрузки страниц и доля ошибок при выполнении проверок.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7. Оценка результатов. Заданы пороговые требования: доля неудачных HTTP-запросов и ошибок — менее 2%, а 95% HTTP-запросов должны выполняться быстрее 2 секунд.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4308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Char char="•"/>
              <a:tabLst>
                <a:tab pos="0" algn="l"/>
              </a:tabLst>
            </a:pPr>
            <a:r>
              <a:rPr lang="ru-RU" sz="12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Итог: программа позволяет оценить доступность и производительность сайта при возрастающей нагрузке и выявить возможные проблемы с обработкой запросов.</a:t>
            </a:r>
            <a:endParaRPr lang="ru-RU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63" name=""/>
          <p:cNvPicPr/>
          <p:nvPr/>
        </p:nvPicPr>
        <p:blipFill>
          <a:blip r:embed="rId1"/>
          <a:stretch/>
        </p:blipFill>
        <p:spPr>
          <a:xfrm>
            <a:off x="104760" y="1674720"/>
            <a:ext cx="5868000" cy="397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Баги и баг-репорты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485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ID: 1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Заголовок: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Некорректное количество лет работы компании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Приоритет: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P3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Окружение: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ПК (браузер), сайт (главная страница)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Шаги воспроизведения: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Открыть сайт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Прокрутить до блока со статистикой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00000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Сравнить текст «18 лет успешных поставок… с 2006 года» с годом в футере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Фактический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Указано 18 лет, хотя с 2006 до 2026 года прошло 20 лет.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Ожидаемый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Цифра соответствует текущему году (20 лет) или считается автоматически.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1"/>
          <a:stretch/>
        </p:blipFill>
        <p:spPr>
          <a:xfrm>
            <a:off x="6657840" y="961920"/>
            <a:ext cx="3828240" cy="39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"/>
          <p:cNvPicPr/>
          <p:nvPr/>
        </p:nvPicPr>
        <p:blipFill>
          <a:blip r:embed="rId2"/>
          <a:stretch/>
        </p:blipFill>
        <p:spPr>
          <a:xfrm>
            <a:off x="6943680" y="4943520"/>
            <a:ext cx="4933080" cy="72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Баги и баг-репорты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485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ID: 2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Заголовок: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Неверные alt-тексты у иконок и ссылка с иконкой MAX ведёт на WhatsApp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Приоритет: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P3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Окружение: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ПК (браузер), сайт (главная страница)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Шаги воспроизведения: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Открыть сайт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Открыть DevTools и проверить иконки рядом с телефонами в шапке и в футере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Навести курсор на иконку MAX и посмотреть адрес ссылки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Фактический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У иконок телефона и MAX одинаковый alt «Иконка-вацап-2»; иконка MAX ведёт на wa.me (WhatsApp).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Ожидаемый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Иконка соответствует мессенджеру, на который ведёт ссылка, а alt описывает назначение элемента (например, «WhatsApp», «Телефон»).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70" name=""/>
          <p:cNvPicPr/>
          <p:nvPr/>
        </p:nvPicPr>
        <p:blipFill>
          <a:blip r:embed="rId1"/>
          <a:stretch/>
        </p:blipFill>
        <p:spPr>
          <a:xfrm>
            <a:off x="7439400" y="2448360"/>
            <a:ext cx="370440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"/>
          <p:cNvPicPr/>
          <p:nvPr/>
        </p:nvPicPr>
        <p:blipFill>
          <a:blip r:embed="rId2"/>
          <a:stretch/>
        </p:blipFill>
        <p:spPr>
          <a:xfrm>
            <a:off x="7439040" y="3067200"/>
            <a:ext cx="2561400" cy="856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Arial"/>
                <a:ea typeface="Arial"/>
              </a:rPr>
              <a:t>Баги и баг-репорты</a:t>
            </a:r>
            <a:endParaRPr lang="ru-RU" sz="4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5485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ID: 3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Заголовок: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Ссылка на политику конфиденциальности под формой ведёт на технический домен Tilda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Приоритет: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P2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Окружение: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ПК (браузер), сайт (главная страница)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Шаги воспроизведения: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Открыть сайт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Прокрутить до блока «Отправьте заявку и получите консультацию специалиста»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261720" indent="-261720" algn="l" defTabSz="914400">
              <a:lnSpc>
                <a:spcPct val="100000"/>
              </a:lnSpc>
              <a:buClr>
                <a:srgbClr val="404040"/>
              </a:buClr>
              <a:buFont typeface="Liberation Sans"/>
              <a:buAutoNum type="arabicPeriod"/>
              <a:tabLst>
                <a:tab pos="0" algn="l"/>
              </a:tabLst>
            </a:pP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Навести курсор на ссылку «персональных данных» под кнопкой и посмотреть адрес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Фактический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Ссылка ведёт на project10386871.tilda.ws/policy (служебный домен), а в остальных формах на dks-st.ru/....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400" b="1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Ожидаемый результат:</a:t>
            </a:r>
            <a:r>
              <a:rPr lang="ru-RU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  <a:ea typeface="Arial"/>
              </a:rPr>
              <a:t> Все юридические ссылки ведут на страницы на домене dks-st.ru.</a:t>
            </a:r>
            <a:endParaRPr lang="ru-RU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174" name=""/>
          <p:cNvPicPr/>
          <p:nvPr/>
        </p:nvPicPr>
        <p:blipFill>
          <a:blip r:embed="rId1"/>
          <a:stretch/>
        </p:blipFill>
        <p:spPr>
          <a:xfrm>
            <a:off x="7877160" y="2390760"/>
            <a:ext cx="3304440" cy="80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2"/>
          <a:stretch/>
        </p:blipFill>
        <p:spPr>
          <a:xfrm>
            <a:off x="7877160" y="3200400"/>
            <a:ext cx="2189880" cy="78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urtl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Liberation Sans" pitchFamily="0" charset="1"/>
        <a:ea typeface="Liberation Sans" pitchFamily="0" charset="1"/>
        <a:cs typeface="Liberation Sans" pitchFamily="0" charset="1"/>
      </a:majorFont>
      <a:minorFont>
        <a:latin typeface="Liberation Sans" pitchFamily="0" charset="1"/>
        <a:ea typeface="Liberation Sans" pitchFamily="0" charset="1"/>
        <a:cs typeface="Liberation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rtl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Liberation Sans" pitchFamily="0" charset="1"/>
        <a:ea typeface="Liberation Sans" pitchFamily="0" charset="1"/>
        <a:cs typeface="Liberation Sans" pitchFamily="0" charset="1"/>
      </a:majorFont>
      <a:minorFont>
        <a:latin typeface="Liberation Sans" pitchFamily="0" charset="1"/>
        <a:ea typeface="Liberation Sans" pitchFamily="0" charset="1"/>
        <a:cs typeface="Liberation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0" t="0" r="0" b="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0" t="0" r="0" b="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Application>LibreOffice/26.8.0.3$Linux_X86_64 LibreOffice_project/680$Build-3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2023-08-25T13:22:51Z</dcterms:created>
  <dc:creator/>
  <dc:description/>
  <dc:language>ru-RU</dc:language>
  <cp:lastModifiedBy/>
  <dcterms:modified xsi:type="dcterms:W3CDTF">2026-10-27T13:16:31Z</dcterms:modified>
  <cp:revision>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17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17</vt:i4>
  </property>
</Properties>
</file>